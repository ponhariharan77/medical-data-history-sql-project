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0257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0"/>
            <a:ext cx="7315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PROJECT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41148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331720"/>
            <a:ext cx="5029200" cy="2011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7744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ID: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PTID-CDA-DEC-25-1121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PRSQL-02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 HARIHARAN . C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ponhariharan325@gmail.com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274320"/>
            <a:ext cx="2560320" cy="256032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0" y="2286000"/>
            <a:ext cx="1828800" cy="18288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0" y="1097280"/>
            <a:ext cx="914400" cy="914400"/>
          </a:xfrm>
          <a:prstGeom prst="ellipse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Medical Data Analysis | SQL Project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64008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2801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188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Queries (Q1–Q10)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5727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gender, allergies, name patterns, weight range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86000"/>
            <a:ext cx="64008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4688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377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&amp; Grouping (Q11–Q20)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7614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SUM, GROUP BY, HAVING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47472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474720"/>
            <a:ext cx="64008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3657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566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&amp; Date Functions (Q21–Q25)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9502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CONCAT, YEAR, LIKE, DISTINCT, ORDER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09728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097280"/>
            <a:ext cx="64008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Shape 22"/>
          <p:cNvSpPr/>
          <p:nvPr/>
        </p:nvSpPr>
        <p:spPr>
          <a:xfrm>
            <a:off x="4983480" y="12801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32120" y="1188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&amp; Multi-table (Q26–Q30)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32120" y="15727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JOIN, INNER JOIN, UNION ALL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28600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286000"/>
            <a:ext cx="64008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Shape 28"/>
          <p:cNvSpPr/>
          <p:nvPr/>
        </p:nvSpPr>
        <p:spPr>
          <a:xfrm>
            <a:off x="4983480" y="24688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32120" y="2377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(Q31–Q34)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32120" y="27614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WHEN, BMI calculation, subqueries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47472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474720"/>
            <a:ext cx="64008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6" name="Shape 34"/>
          <p:cNvSpPr/>
          <p:nvPr/>
        </p:nvSpPr>
        <p:spPr>
          <a:xfrm>
            <a:off x="4983480" y="3657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32120" y="3566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32120" y="39502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summary of key SQL concepts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first name, last name, and gender of patients who's gender is 'M'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first_name, last_name, gender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gender = 'M';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first name and last name of patients who does not have allergies.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first_name, last_name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allergies IS NULL;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first name of patients that start with the letter 'C'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first_name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first_name LIKE 'C%';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first name and last name of patients that weight within the range of 100 to 120 (inclusive)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first_name, last_name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weight BETWEEN 100 AND 120;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first name and last name concatenated into one column to show their full name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CONCAT(first_name, ' ', last_name)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full_name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first name, last name, and the full province name of each patient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p.first_name, p.last_name, pr.province_name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 AS 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province_names AS pr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3192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p.province_id = pr.province_id;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how many patients have a birth_date with 2010 as the birth year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AS total_patients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YEAR(birth_date) = 2010;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first_name, last_name, and height of the patient with the greatest height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first_name, last_name, height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height DESC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3192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1;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 columns for patients with patient_ids: 1, 45, 534, 879, 1000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patient_id IN (1, 45, 534, 879, 1000);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total number of admissions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AS total_admissions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admissions;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 columns from admissions where patient was admitted and discharged on the same day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admissions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DATE(admission_date) = DATE(discharge_date);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Q12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total number of admissions for patient_id 579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AS total_admissions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admissions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patient_id = 579;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Q13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unique cities that are in province_id 'NS'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city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province_id = 'NS';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Q14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patients with height &gt; 160 and weight &gt; 70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first_name, last_name, birth_date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height &gt; 160 AND weight &gt; 70;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Q15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unique birth years from patients ordered ascending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YEAR(birth_date) AS birth_year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birth_year ASC;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Q16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unique first names that occur exactly once in the list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first_name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first_name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3192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= 1;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Q17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patient_id and first_name where name starts and ends with 's' and is at least 6 chars long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patient_id, first_name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first_name LIKE 's%s'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3192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CHAR_LENGTH(first_name) &gt;= 6;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Q18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patient_id, first_name, last_name from patients whose diagnosis is 'Dementia'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p.patient_id, p.first_name, p.last_name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 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admissions a ON p.patient_id = a.patient_id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3192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a.primary_diagnosis = 'Dementia';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Q19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patient first names ordered by name length, then alphabetically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first_name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CHAR_LENGTH(first_name), first_name;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Q20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total male and female patient count in the same row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SUM(CASE WHEN gender = 'M' THEN 1 ELSE 0 END) AS male_count,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SUM(CASE WHEN gender = 'F' THEN 1 ELSE 0 END) AS female_count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3192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patients;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Q21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patients admitted multiple times for the same diagnosis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patient_id, diagnosis, COUNT(*) AS times_admitted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admissions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patient_id, diagnosis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3192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 1;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Q22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city and total patients per city, ordered by most to least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city, COUNT(*) AS total_patients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3192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total_patients DESC, city ASC;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Q23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first name, last name and role of every patient and doctor using UNION ALL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first_name, last_name, 'Patient' AS role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 ALL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3192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first_name, last_name, 'Doctor' AS role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639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36393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doctors;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Q24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 allergies ordered by popularity, removing NULL values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allergies, COUNT(*) AS occurrences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allergies IS NOT NULL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3192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TRIM(allergies) &lt;&gt; ''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639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36393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allergies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3959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39593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occurrences DESC;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Q25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patients born in the 1970s decade, sorted by earliest birth_date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first_name, last_name, birth_date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birth_date BETWEEN '1970-01-01' AND '1979-12-31'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3192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birth_date ASC;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04668A"/>
          </a:solidFill>
          <a:ln w="12700">
            <a:solidFill>
              <a:srgbClr val="0466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04668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each patient's full name as LAST_NAME,first_name, ordered by first_name descending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46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CONCAT(UPPER(last_name), ',', LOWER(first_name))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full_name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3192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LOWER(first_name) DESC;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04668A"/>
          </a:solidFill>
          <a:ln w="12700">
            <a:solidFill>
              <a:srgbClr val="0466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Q27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04668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province_id(s) where sum of patient heights &gt;= 7,000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46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province_id, SUM(height) AS sum_of_height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province_id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3192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SUM(height) &gt;= 7000;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Q27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04668A"/>
          </a:solidFill>
          <a:ln w="12700">
            <a:solidFill>
              <a:srgbClr val="0466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Q28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04668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weight difference (max - min) for patients with last name 'Maroni'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46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MAX(weight) - MIN(weight) AS weight_difference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last_name = 'Maroni';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Q28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04668A"/>
          </a:solidFill>
          <a:ln w="12700">
            <a:solidFill>
              <a:srgbClr val="0466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Q29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04668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days of the month (1–31) and how many admissions occurred on that day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46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DAY(admission_date) AS day_of_month,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COUNT(*) AS total_admissions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admissions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3192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day_of_month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639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36393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total_admissions DESC;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Q29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04668A"/>
          </a:solidFill>
          <a:ln w="12700">
            <a:solidFill>
              <a:srgbClr val="0466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Q30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04668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patients by weight group (e.g., 100-109 → 100) and show patient count per group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46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(FLOOR(weight/10) * 10) AS weight_group,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COUNT(*) AS total_patients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3192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weight_group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639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36393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weight_group DESC;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Q30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Q31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patient_id, weight, height, isObese (1/0) using BMI formula weight/(height/100)²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patient_id, weight, height,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(weight / POW(height/100.0, 2)) &gt;= 30 THEN 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3192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639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36393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AS isObese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3959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39593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patients;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Q31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Q32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91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347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4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686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patients with diagnosis 'Epilepsy' treated by a doctor named 'Lisa'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2834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FF60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93392"/>
            <a:ext cx="164592" cy="164592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993392"/>
            <a:ext cx="164592" cy="16459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p.patient_id, p.first_name, p.last_name, d.specialty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 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admissions a ON p.patient_id = a.patient_id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3192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doctors d ON a.attending_doctor_id = d.doctor_id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639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36393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a.diagnosis = 'Epilepsy'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3959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39593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d.first_name = 'Lisa';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87375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Q32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17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0" y="228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Query Overview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20240" cy="1097280"/>
          </a:xfrm>
          <a:prstGeom prst="rect">
            <a:avLst/>
          </a:prstGeom>
          <a:solidFill>
            <a:srgbClr val="028090">
              <a:alpha val="90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789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Queries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statements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50592" y="1005840"/>
            <a:ext cx="1920240" cy="109728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10789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50592" y="1600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Used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50592" y="18288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· admissions · doctors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26864" y="1005840"/>
            <a:ext cx="1920240" cy="1097280"/>
          </a:xfrm>
          <a:prstGeom prst="rect">
            <a:avLst/>
          </a:prstGeom>
          <a:solidFill>
            <a:srgbClr val="028090">
              <a:alpha val="90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10789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26864" y="1600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Queries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26864" y="18288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· INNER JOIN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03136" y="1005840"/>
            <a:ext cx="1920240" cy="1097280"/>
          </a:xfrm>
          <a:prstGeom prst="rect">
            <a:avLst/>
          </a:prstGeom>
          <a:solidFill>
            <a:srgbClr val="02C39A">
              <a:alpha val="90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03136" y="10789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03136" y="1600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03136" y="18288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· SUM · MAX · MIN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" y="2240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Categories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2606040"/>
            <a:ext cx="4114800" cy="30175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2606040"/>
            <a:ext cx="1080135" cy="3017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2606040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Filters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0" y="2606040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queries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044952"/>
            <a:ext cx="4114800" cy="30175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" y="3044952"/>
            <a:ext cx="960120" cy="3017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3044952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0" y="3044952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queries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483864"/>
            <a:ext cx="4114800" cy="30175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3483864"/>
            <a:ext cx="720090" cy="3017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3483864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String/Date Fns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0" y="3483864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queries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922776"/>
            <a:ext cx="4114800" cy="30175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74320" y="3922776"/>
            <a:ext cx="600075" cy="3017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3922776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0" y="392277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queries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361688"/>
            <a:ext cx="4114800" cy="30175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74320" y="4361688"/>
            <a:ext cx="480060" cy="3017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" y="4361688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0" y="4361688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queries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2240280"/>
            <a:ext cx="4206240" cy="2651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2286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Concepts Used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754880" y="2734056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5" name="Text 43"/>
          <p:cNvSpPr/>
          <p:nvPr/>
        </p:nvSpPr>
        <p:spPr>
          <a:xfrm>
            <a:off x="4983480" y="26791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/ LIKE / BETWEEN / IN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406640" y="26791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filtering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54880" y="3026664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8" name="Text 46"/>
          <p:cNvSpPr/>
          <p:nvPr/>
        </p:nvSpPr>
        <p:spPr>
          <a:xfrm>
            <a:off x="4983480" y="2971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SUM, MAX, MIN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406640" y="2971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54880" y="3319272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1" name="Text 49"/>
          <p:cNvSpPr/>
          <p:nvPr/>
        </p:nvSpPr>
        <p:spPr>
          <a:xfrm>
            <a:off x="4983480" y="32644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/ HAVING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406640" y="32644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&amp; filtering groups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54880" y="3611880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4" name="Text 52"/>
          <p:cNvSpPr/>
          <p:nvPr/>
        </p:nvSpPr>
        <p:spPr>
          <a:xfrm>
            <a:off x="4983480" y="35570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(LEFT / INNER)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406640" y="3557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queries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54880" y="3904488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7" name="Text 55"/>
          <p:cNvSpPr/>
          <p:nvPr/>
        </p:nvSpPr>
        <p:spPr>
          <a:xfrm>
            <a:off x="4983480" y="38496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ALL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406640" y="3849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result sets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754880" y="4197096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0" name="Text 58"/>
          <p:cNvSpPr/>
          <p:nvPr/>
        </p:nvSpPr>
        <p:spPr>
          <a:xfrm>
            <a:off x="4983480" y="4142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/ THEN / ELSE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406640" y="4142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754880" y="4489704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3" name="Text 61"/>
          <p:cNvSpPr/>
          <p:nvPr/>
        </p:nvSpPr>
        <p:spPr>
          <a:xfrm>
            <a:off x="4983480" y="4434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/ UPPER / LOWER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406640" y="4434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manipulation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754880" y="4782312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6" name="Text 64"/>
          <p:cNvSpPr/>
          <p:nvPr/>
        </p:nvSpPr>
        <p:spPr>
          <a:xfrm>
            <a:off x="4983480" y="4727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/ DAY / DATE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406640" y="47274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extraction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1729"/>
          </a:solidFill>
          <a:ln/>
        </p:spPr>
      </p:sp>
      <p:sp>
        <p:nvSpPr>
          <p:cNvPr id="69" name="Text 67"/>
          <p:cNvSpPr/>
          <p:nvPr/>
        </p:nvSpPr>
        <p:spPr>
          <a:xfrm>
            <a:off x="365760" y="4873752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| SQL Project 2025 | PON HARIHARAN . C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457200"/>
            <a:ext cx="3657600" cy="365760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2286000"/>
            <a:ext cx="2286000" cy="22860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History — SQL Project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514600"/>
            <a:ext cx="36576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9748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8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 HARIHARAN . C</a:t>
            </a:r>
            <a:endParaRPr lang="en-US" sz="13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ponhariharan325@gmail.com</a:t>
            </a:r>
            <a:endParaRPr lang="en-US" sz="1300" dirty="0"/>
          </a:p>
          <a:p>
            <a:pPr marL="0" indent="0">
              <a:lnSpc>
                <a:spcPct val="1800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2407</Words>
  <Application>Microsoft Office PowerPoint</Application>
  <PresentationFormat>On-screen Show (16:9)</PresentationFormat>
  <Paragraphs>607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Data History - SQL</dc:title>
  <dc:subject>PptxGenJS Presentation</dc:subject>
  <dc:creator>PptxGenJS</dc:creator>
  <cp:lastModifiedBy>hari haran</cp:lastModifiedBy>
  <cp:revision>4</cp:revision>
  <dcterms:created xsi:type="dcterms:W3CDTF">2026-02-24T04:03:34Z</dcterms:created>
  <dcterms:modified xsi:type="dcterms:W3CDTF">2026-03-11T02:22:04Z</dcterms:modified>
</cp:coreProperties>
</file>